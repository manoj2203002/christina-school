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188720"/>
            <a:ext cx="4389120" cy="384048"/>
          </a:xfrm>
          <a:prstGeom prst="roundRect">
            <a:avLst/>
          </a:prstGeom>
          <a:solidFill>
            <a:srgbClr val="1B3E77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EA5E9"/>
                </a:solidFill>
                <a:latin typeface="Calibri"/>
              </a:defRPr>
            </a:pPr>
            <a:r>
              <a:t>ENTERPRISE SCHOOL WEB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73736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Calibri"/>
              </a:defRPr>
            </a:pPr>
            <a:r>
              <a:t>Christina Nursery &amp; Primary School</a:t>
            </a:r>
          </a:p>
          <a:p>
            <a:pPr>
              <a:spcBef>
                <a:spcPts val="600"/>
              </a:spcBef>
              <a:defRPr sz="2100">
                <a:solidFill>
                  <a:srgbClr val="0EA5E9"/>
                </a:solidFill>
                <a:latin typeface="Calibri"/>
              </a:defRPr>
            </a:pPr>
            <a:r>
              <a:t>Comprehensive Digital Platform &amp; Administration Suite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566160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97316"/>
                </a:solidFill>
                <a:latin typeface="Calibri"/>
              </a:defRPr>
            </a:pPr>
            <a:r>
              <a:t>Institution: </a:t>
            </a:r>
            <a:r>
              <a:rPr b="0">
                <a:solidFill>
                  <a:srgbClr val="E2E8F0"/>
                </a:solidFill>
              </a:rPr>
              <a:t>Christina Nursery &amp; Primary School (Est. 1992)</a:t>
            </a:r>
          </a:p>
          <a:p>
            <a:pPr>
              <a:spcAft>
                <a:spcPts val="400"/>
              </a:spcAft>
              <a:defRPr sz="1300" b="1">
                <a:solidFill>
                  <a:srgbClr val="F97316"/>
                </a:solidFill>
                <a:latin typeface="Calibri"/>
              </a:defRPr>
            </a:pPr>
            <a:r>
              <a:t>Location: </a:t>
            </a:r>
            <a:r>
              <a:rPr b="0">
                <a:solidFill>
                  <a:srgbClr val="E2E8F0"/>
                </a:solidFill>
              </a:rPr>
              <a:t>Rasipuram Main Road, Gopalapuram, Attur Salem – 636102</a:t>
            </a:r>
          </a:p>
          <a:p>
            <a:pPr>
              <a:spcAft>
                <a:spcPts val="400"/>
              </a:spcAft>
              <a:defRPr sz="1300" b="1">
                <a:solidFill>
                  <a:srgbClr val="F97316"/>
                </a:solidFill>
                <a:latin typeface="Calibri"/>
              </a:defRPr>
            </a:pPr>
            <a:r>
              <a:t>Principal: </a:t>
            </a:r>
            <a:r>
              <a:rPr b="0">
                <a:solidFill>
                  <a:srgbClr val="E2E8F0"/>
                </a:solidFill>
              </a:rPr>
              <a:t>Mr. Joshua Billowry</a:t>
            </a:r>
          </a:p>
          <a:p>
            <a:pPr>
              <a:spcAft>
                <a:spcPts val="400"/>
              </a:spcAft>
              <a:defRPr sz="1300" b="1">
                <a:solidFill>
                  <a:srgbClr val="F97316"/>
                </a:solidFill>
                <a:latin typeface="Calibri"/>
              </a:defRPr>
            </a:pPr>
            <a:r>
              <a:t>Office Phone: </a:t>
            </a:r>
            <a:r>
              <a:rPr b="0">
                <a:solidFill>
                  <a:srgbClr val="E2E8F0"/>
                </a:solidFill>
              </a:rPr>
              <a:t>+91 427 225 4053 / +91 94432 75738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3566160"/>
            <a:ext cx="4572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EA5E9"/>
                </a:solidFill>
                <a:latin typeface="Calibri"/>
              </a:defRPr>
            </a:pPr>
            <a:r>
              <a:t>Frontend Stack: </a:t>
            </a:r>
            <a:r>
              <a:rPr b="0">
                <a:solidFill>
                  <a:srgbClr val="E2E8F0"/>
                </a:solidFill>
              </a:rPr>
              <a:t>Angular 21 (Standalone, Signals, Vite)</a:t>
            </a:r>
          </a:p>
          <a:p>
            <a:pPr>
              <a:spcAft>
                <a:spcPts val="400"/>
              </a:spcAft>
              <a:defRPr sz="1300" b="1">
                <a:solidFill>
                  <a:srgbClr val="0EA5E9"/>
                </a:solidFill>
                <a:latin typeface="Calibri"/>
              </a:defRPr>
            </a:pPr>
            <a:r>
              <a:t>Backend Stack: </a:t>
            </a:r>
            <a:r>
              <a:rPr b="0">
                <a:solidFill>
                  <a:srgbClr val="E2E8F0"/>
                </a:solidFill>
              </a:rPr>
              <a:t>ASP.NET Core (.NET 10 Web API, C#)</a:t>
            </a:r>
          </a:p>
          <a:p>
            <a:pPr>
              <a:spcAft>
                <a:spcPts val="400"/>
              </a:spcAft>
              <a:defRPr sz="1300" b="1">
                <a:solidFill>
                  <a:srgbClr val="0EA5E9"/>
                </a:solidFill>
                <a:latin typeface="Calibri"/>
              </a:defRPr>
            </a:pPr>
            <a:r>
              <a:t>Database: </a:t>
            </a:r>
            <a:r>
              <a:rPr b="0">
                <a:solidFill>
                  <a:srgbClr val="E2E8F0"/>
                </a:solidFill>
              </a:rPr>
              <a:t>Microsoft SQL Server / Entity Framework Core 10</a:t>
            </a:r>
          </a:p>
          <a:p>
            <a:pPr>
              <a:spcAft>
                <a:spcPts val="400"/>
              </a:spcAft>
              <a:defRPr sz="1300" b="1">
                <a:solidFill>
                  <a:srgbClr val="22C55E"/>
                </a:solidFill>
                <a:latin typeface="Calibri"/>
              </a:defRPr>
            </a:pPr>
            <a:r>
              <a:t>Project Scope: </a:t>
            </a:r>
            <a:r>
              <a:rPr b="0">
                <a:solidFill>
                  <a:srgbClr val="E2E8F0"/>
                </a:solidFill>
              </a:rPr>
              <a:t>Full Admin Implementation (Not a simple portfolio)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Calibri"/>
              </a:defRPr>
            </a:pPr>
            <a:r>
              <a:t>STRATEGIC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Executive Summary &amp; Digital Vision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2900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3429000" cy="914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28803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Institutional Heritage</a:t>
            </a:r>
          </a:p>
          <a:p>
            <a:pPr>
              <a:lnSpc>
                <a:spcPct val="130000"/>
              </a:lnSpc>
              <a:defRPr sz="1300">
                <a:solidFill>
                  <a:srgbClr val="E2E8F0"/>
                </a:solidFill>
                <a:latin typeface="Calibri"/>
              </a:defRPr>
            </a:pPr>
            <a:r>
              <a:t>Founded in 1992, Christina Nursery &amp; Primary School has guided generations of primary learners across Attur and Salem with foundational warmth, moral integrity, and academic excellence.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63040"/>
            <a:ext cx="342900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463040"/>
            <a:ext cx="3429000" cy="914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828800"/>
            <a:ext cx="28803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Digital Modernization</a:t>
            </a:r>
          </a:p>
          <a:p>
            <a:pPr>
              <a:lnSpc>
                <a:spcPct val="130000"/>
              </a:lnSpc>
              <a:defRPr sz="1300">
                <a:solidFill>
                  <a:srgbClr val="E2E8F0"/>
                </a:solidFill>
                <a:latin typeface="Calibri"/>
              </a:defRPr>
            </a:pPr>
            <a:r>
              <a:t>Transitioning beyond traditional word-of-mouth and manual desk registers into an interactive digital ecosystem that connects parents, educators, and administrators.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463040"/>
            <a:ext cx="342900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55280" y="1463040"/>
            <a:ext cx="3429000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828800"/>
            <a:ext cx="28803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Operational Efficiency</a:t>
            </a:r>
          </a:p>
          <a:p>
            <a:pPr>
              <a:lnSpc>
                <a:spcPct val="130000"/>
              </a:lnSpc>
              <a:defRPr sz="1300">
                <a:solidFill>
                  <a:srgbClr val="E2E8F0"/>
                </a:solidFill>
                <a:latin typeface="Calibri"/>
              </a:defRPr>
            </a:pPr>
            <a:r>
              <a:t>Empowering school leadership with a centralized dashboard to publish notices, manage staff records, track admission inquiries, and showcase achievements without technical overhead.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Calibri"/>
              </a:defRPr>
            </a:pPr>
            <a:r>
              <a:t>CORE PROJECT DIFFERENTIATOR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Why This Project Is NOT Just a Simple Portfolio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728655" cy="685800"/>
          </a:xfrm>
          <a:prstGeom prst="roundRect">
            <a:avLst/>
          </a:prstGeom>
          <a:solidFill>
            <a:srgbClr val="1B3E77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10332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Calibri"/>
              </a:defRPr>
            </a:pPr>
            <a:r>
              <a:t>CRITICAL DISTINCTION: A brochure portfolio is static and forgotten. This project delivers an Enterprise Administration Engine designed for active daily governance.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40280"/>
            <a:ext cx="516636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423160"/>
            <a:ext cx="46177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87171"/>
                </a:solidFill>
                <a:latin typeface="Calibri"/>
              </a:defRPr>
            </a:pPr>
            <a:r>
              <a:t>Standard 'Brochure' Portfolio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❌ Static Hardcoded Content: Any change in fees, holidays, or events requires calling an external developer.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❌ Zero Administrative Control: School staff cannot update staff lists, photo albums, or upload circulars independently.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❌ Passive Contact Form: Inquiries are sent to unmonitored email inboxes with zero tracking or conversion follow-up.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❌ No User Access Control: No authenticated portals or permission management.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❌ Isolated Web Presence: Cannot scale into student, teacher, or parent digital workflows.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91072" y="2240280"/>
            <a:ext cx="516636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65392" y="2423160"/>
            <a:ext cx="46177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22C55E"/>
                </a:solidFill>
                <a:latin typeface="Calibri"/>
              </a:defRPr>
            </a:pPr>
            <a:r>
              <a:t>Our Enterprise Web Application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✅ Full CRUD Admin Dashboard: Instant self-service publishing of notices, staff, news, albums, and documents.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✅ Dynamic Admission Pipeline: Online leads are captured, categorized (New, Called, Visit Booked, Admitted), and audited.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✅ Time-Scheduled Announcements: Schedule notices with automated start/expiry and popup alert modals.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✅ Secure Enterprise Authentication: JWT security, role-based permissions, and audit tracking.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  <a:latin typeface="Calibri"/>
              </a:defRPr>
            </a:pPr>
            <a:r>
              <a:t>✅ Foundation for Full School ERP: Architecture designed to plug in Student/Teacher logins, fee payment &amp; attendance.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Calibri"/>
              </a:defRPr>
            </a:pPr>
            <a: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Modern Enterprise Technology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2900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3429000" cy="914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2971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Calibri"/>
              </a:defRPr>
            </a:pPr>
            <a:r>
              <a:t>FRONTEND ARCHITECTURE</a:t>
            </a:r>
          </a:p>
          <a:p>
            <a:pPr>
              <a:spcAft>
                <a:spcPts val="140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Angular 21</a:t>
            </a:r>
          </a:p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• Standalone Component Architecture (zero NgModule bloat)</a:t>
            </a:r>
          </a:p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• Zoneless Change Detection &amp; Fine-Grained Signals</a:t>
            </a:r>
          </a:p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• Vite-Powered Next-Gen Build Engine</a:t>
            </a:r>
          </a:p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• Reactive Forms with Client-Side Validation</a:t>
            </a:r>
          </a:p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• Deferrable Views (@defer) for Sub-Second Load Times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63040"/>
            <a:ext cx="342900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463040"/>
            <a:ext cx="3429000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737360"/>
            <a:ext cx="2971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BACKEND SERVICES</a:t>
            </a:r>
          </a:p>
          <a:p>
            <a:pPr>
              <a:spcAft>
                <a:spcPts val="140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ASP.NET Core (.NET 10)</a:t>
            </a:r>
          </a:p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• High-Throughput C# 14 RESTful Web API</a:t>
            </a:r>
          </a:p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• Clean Architecture with CQRS &amp; Repository Pattern</a:t>
            </a:r>
          </a:p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• JWT Bearer Token Authentication &amp; RBAC</a:t>
            </a:r>
          </a:p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• Entity Framework Core 10 Object-Relational Mapping</a:t>
            </a:r>
          </a:p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• Swagger / OpenAPI 3.0 Real-Time API Documentation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463040"/>
            <a:ext cx="342900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55280" y="1463040"/>
            <a:ext cx="3429000" cy="914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1737360"/>
            <a:ext cx="2971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97316"/>
                </a:solidFill>
                <a:latin typeface="Calibri"/>
              </a:defRPr>
            </a:pPr>
            <a:r>
              <a:t>DATA &amp; INFRASTRUCTURE</a:t>
            </a:r>
          </a:p>
          <a:p>
            <a:pPr>
              <a:spcAft>
                <a:spcPts val="140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SQL Server &amp; Cloud</a:t>
            </a:r>
          </a:p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• Microsoft SQL Server 2025 / Azure SQL Database</a:t>
            </a:r>
          </a:p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• ACID Compliance &amp; Automated Relational Integrity</a:t>
            </a:r>
          </a:p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• Cloud Object Storage (Azure Blob / AWS S3) for Media</a:t>
            </a:r>
          </a:p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• HTTPS / SSL Encryption &amp; Cloudflare CDN Protection</a:t>
            </a:r>
          </a:p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• Automated Daily Database Backups &amp; Recovery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Calibri"/>
              </a:defRPr>
            </a:pPr>
            <a:r>
              <a:t>ADMIN CONTROL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Administrative Dashboard: Modules &amp; Capabilities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5780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27048"/>
            <a:ext cx="4892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EA5E9"/>
                </a:solidFill>
                <a:latin typeface="Calibri"/>
              </a:defRPr>
            </a:pPr>
            <a:r>
              <a:t>📢 Announcements Engine</a:t>
            </a:r>
          </a:p>
          <a:p>
            <a:pPr>
              <a:defRPr sz="1100">
                <a:solidFill>
                  <a:srgbClr val="E2E8F0"/>
                </a:solidFill>
                <a:latin typeface="Calibri"/>
              </a:defRPr>
            </a:pPr>
            <a:r>
              <a:t>Create, edit, pin, and schedule notices with start/end timestamps and critical popup dialog triggers.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417320"/>
            <a:ext cx="525780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527048"/>
            <a:ext cx="4892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EA5E9"/>
                </a:solidFill>
                <a:latin typeface="Calibri"/>
              </a:defRPr>
            </a:pPr>
            <a:r>
              <a:t>👥 Staff &amp; Faculty Manager</a:t>
            </a:r>
          </a:p>
          <a:p>
            <a:pPr>
              <a:defRPr sz="1100">
                <a:solidFill>
                  <a:srgbClr val="E2E8F0"/>
                </a:solidFill>
                <a:latin typeface="Calibri"/>
              </a:defRPr>
            </a:pPr>
            <a:r>
              <a:t>Manage teacher roster, designations, academic qualifications, subjects, and display availability.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51760"/>
            <a:ext cx="525780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761488"/>
            <a:ext cx="4892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EA5E9"/>
                </a:solidFill>
                <a:latin typeface="Calibri"/>
              </a:defRPr>
            </a:pPr>
            <a:r>
              <a:t>🖼️ Photo Gallery &amp; Albums</a:t>
            </a:r>
          </a:p>
          <a:p>
            <a:pPr>
              <a:defRPr sz="1100">
                <a:solidFill>
                  <a:srgbClr val="E2E8F0"/>
                </a:solidFill>
                <a:latin typeface="Calibri"/>
              </a:defRPr>
            </a:pPr>
            <a:r>
              <a:t>Upload high-res event photography, organize by albums (Sports Day, Science Expo, Annual Day), with tags.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651760"/>
            <a:ext cx="525780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761488"/>
            <a:ext cx="4892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EA5E9"/>
                </a:solidFill>
                <a:latin typeface="Calibri"/>
              </a:defRPr>
            </a:pPr>
            <a:r>
              <a:t>📄 Document Download Center</a:t>
            </a:r>
          </a:p>
          <a:p>
            <a:pPr>
              <a:defRPr sz="1100">
                <a:solidFill>
                  <a:srgbClr val="E2E8F0"/>
                </a:solidFill>
                <a:latin typeface="Calibri"/>
              </a:defRPr>
            </a:pPr>
            <a:r>
              <a:t>Publish downloadable parent resources: admission forms, fee circulars, uniforms policy, holiday calendars.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86200"/>
            <a:ext cx="525780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995928"/>
            <a:ext cx="4892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EA5E9"/>
                </a:solidFill>
                <a:latin typeface="Calibri"/>
              </a:defRPr>
            </a:pPr>
            <a:r>
              <a:t>✉️ Admission Inquiries CRM</a:t>
            </a:r>
          </a:p>
          <a:p>
            <a:pPr>
              <a:defRPr sz="1100">
                <a:solidFill>
                  <a:srgbClr val="E2E8F0"/>
                </a:solidFill>
                <a:latin typeface="Calibri"/>
              </a:defRPr>
            </a:pPr>
            <a:r>
              <a:t>Live queue of parent submissions with 4-stage tracking: New → Called → Visit Booked → Admitted.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886200"/>
            <a:ext cx="525780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3995928"/>
            <a:ext cx="4892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EA5E9"/>
                </a:solidFill>
                <a:latin typeface="Calibri"/>
              </a:defRPr>
            </a:pPr>
            <a:r>
              <a:t>📅 School Events Calendar</a:t>
            </a:r>
          </a:p>
          <a:p>
            <a:pPr>
              <a:defRPr sz="1100">
                <a:solidFill>
                  <a:srgbClr val="E2E8F0"/>
                </a:solidFill>
                <a:latin typeface="Calibri"/>
              </a:defRPr>
            </a:pPr>
            <a:r>
              <a:t>Maintain schedule of exams, cultural celebrations, field trips, and parent-teacher meetings.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120640"/>
            <a:ext cx="525780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230368"/>
            <a:ext cx="4892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EA5E9"/>
                </a:solidFill>
                <a:latin typeface="Calibri"/>
              </a:defRPr>
            </a:pPr>
            <a:r>
              <a:t>🏆 Student Achievements</a:t>
            </a:r>
          </a:p>
          <a:p>
            <a:pPr>
              <a:defRPr sz="1100">
                <a:solidFill>
                  <a:srgbClr val="E2E8F0"/>
                </a:solidFill>
                <a:latin typeface="Calibri"/>
              </a:defRPr>
            </a:pPr>
            <a:r>
              <a:t>Celebrate state and district student awards, Olympiad rank holders, and athletic medals.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5120640"/>
            <a:ext cx="525780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5230368"/>
            <a:ext cx="4892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EA5E9"/>
                </a:solidFill>
                <a:latin typeface="Calibri"/>
              </a:defRPr>
            </a:pPr>
            <a:r>
              <a:t>⚙️ Global School Settings</a:t>
            </a:r>
          </a:p>
          <a:p>
            <a:pPr>
              <a:defRPr sz="1100">
                <a:solidFill>
                  <a:srgbClr val="E2E8F0"/>
                </a:solidFill>
                <a:latin typeface="Calibri"/>
              </a:defRPr>
            </a:pPr>
            <a:r>
              <a:t>Manage official timings, contact hotlines, campus address, public announcements ticker, and banner alerts.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Calibri"/>
              </a:defRPr>
            </a:pPr>
            <a:r>
              <a:t>COMMUNITY ENGAGEMENT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Public Portal: 12+ Interactive Parent &amp; Visitor Views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42900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508760"/>
            <a:ext cx="309981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F97316"/>
                </a:solidFill>
                <a:latin typeface="Calibri"/>
              </a:defRPr>
            </a:pPr>
            <a:r>
              <a:t>01. Home Landing</a:t>
            </a:r>
          </a:p>
          <a:p>
            <a:pPr>
              <a:defRPr sz="1050">
                <a:solidFill>
                  <a:srgbClr val="E2E8F0"/>
                </a:solidFill>
                <a:latin typeface="Calibri"/>
              </a:defRPr>
            </a:pPr>
            <a:r>
              <a:t>Hero announcement ticker, live school statistics, faculty spotlight, campus preview, admissions CTA.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417320"/>
            <a:ext cx="342900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07992" y="1508760"/>
            <a:ext cx="309981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F97316"/>
                </a:solidFill>
                <a:latin typeface="Calibri"/>
              </a:defRPr>
            </a:pPr>
            <a:r>
              <a:t>02. About the School</a:t>
            </a:r>
          </a:p>
          <a:p>
            <a:pPr>
              <a:defRPr sz="1050">
                <a:solidFill>
                  <a:srgbClr val="E2E8F0"/>
                </a:solidFill>
                <a:latin typeface="Calibri"/>
              </a:defRPr>
            </a:pPr>
            <a:r>
              <a:t>Foundational philosophy since 1992, Vision/Mission/Values interactive accordion, parent survey.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417320"/>
            <a:ext cx="342900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19872" y="1508760"/>
            <a:ext cx="309981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F97316"/>
                </a:solidFill>
                <a:latin typeface="Calibri"/>
              </a:defRPr>
            </a:pPr>
            <a:r>
              <a:t>03. Academics &amp; Stages</a:t>
            </a:r>
          </a:p>
          <a:p>
            <a:pPr>
              <a:defRPr sz="1050">
                <a:solidFill>
                  <a:srgbClr val="E2E8F0"/>
                </a:solidFill>
                <a:latin typeface="Calibri"/>
              </a:defRPr>
            </a:pPr>
            <a:r>
              <a:t>Comprehensive curriculum guides: Early Years (Nursery-UKG) and Primary (Grades 1-5).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51760"/>
            <a:ext cx="342900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743200"/>
            <a:ext cx="309981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F97316"/>
                </a:solidFill>
                <a:latin typeface="Calibri"/>
              </a:defRPr>
            </a:pPr>
            <a:r>
              <a:t>04. Staff Directory</a:t>
            </a:r>
          </a:p>
          <a:p>
            <a:pPr>
              <a:defRPr sz="1050">
                <a:solidFill>
                  <a:srgbClr val="E2E8F0"/>
                </a:solidFill>
                <a:latin typeface="Calibri"/>
              </a:defRPr>
            </a:pPr>
            <a:r>
              <a:t>Complete educator listings with departmental filtering and experience profiles.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2651760"/>
            <a:ext cx="342900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2743200"/>
            <a:ext cx="309981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F97316"/>
                </a:solidFill>
                <a:latin typeface="Calibri"/>
              </a:defRPr>
            </a:pPr>
            <a:r>
              <a:t>05. Activities &amp; Sports</a:t>
            </a:r>
          </a:p>
          <a:p>
            <a:pPr>
              <a:defRPr sz="1050">
                <a:solidFill>
                  <a:srgbClr val="E2E8F0"/>
                </a:solidFill>
                <a:latin typeface="Calibri"/>
              </a:defRPr>
            </a:pPr>
            <a:r>
              <a:t>Co-curricular clubs, sports leagues, houses, and field trip showcase.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80" y="2651760"/>
            <a:ext cx="342900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19872" y="2743200"/>
            <a:ext cx="309981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F97316"/>
                </a:solidFill>
                <a:latin typeface="Calibri"/>
              </a:defRPr>
            </a:pPr>
            <a:r>
              <a:t>06. Notice Board</a:t>
            </a:r>
          </a:p>
          <a:p>
            <a:pPr>
              <a:defRPr sz="1050">
                <a:solidFill>
                  <a:srgbClr val="E2E8F0"/>
                </a:solidFill>
                <a:latin typeface="Calibri"/>
              </a:defRPr>
            </a:pPr>
            <a:r>
              <a:t>Categorized, searchable circulars with pinned notices and calendar schedules.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886200"/>
            <a:ext cx="342900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3977640"/>
            <a:ext cx="309981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F97316"/>
                </a:solidFill>
                <a:latin typeface="Calibri"/>
              </a:defRPr>
            </a:pPr>
            <a:r>
              <a:t>07. Gallery &amp; Lightbox</a:t>
            </a:r>
          </a:p>
          <a:p>
            <a:pPr>
              <a:defRPr sz="1050">
                <a:solidFill>
                  <a:srgbClr val="E2E8F0"/>
                </a:solidFill>
                <a:latin typeface="Calibri"/>
              </a:defRPr>
            </a:pPr>
            <a:r>
              <a:t>Responsive masonry gallery with category filters and high-res photo modal.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3400" y="3886200"/>
            <a:ext cx="342900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7992" y="3977640"/>
            <a:ext cx="309981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F97316"/>
                </a:solidFill>
                <a:latin typeface="Calibri"/>
              </a:defRPr>
            </a:pPr>
            <a:r>
              <a:t>08. School News Journal</a:t>
            </a:r>
          </a:p>
          <a:p>
            <a:pPr>
              <a:defRPr sz="1050">
                <a:solidFill>
                  <a:srgbClr val="E2E8F0"/>
                </a:solidFill>
                <a:latin typeface="Calibri"/>
              </a:defRPr>
            </a:pPr>
            <a:r>
              <a:t>Dispatches on robotics wins, library expansions, and garden projects.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55280" y="3886200"/>
            <a:ext cx="342900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19872" y="3977640"/>
            <a:ext cx="309981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F97316"/>
                </a:solidFill>
                <a:latin typeface="Calibri"/>
              </a:defRPr>
            </a:pPr>
            <a:r>
              <a:t>09. Admissions Portal</a:t>
            </a:r>
          </a:p>
          <a:p>
            <a:pPr>
              <a:defRPr sz="1050">
                <a:solidFill>
                  <a:srgbClr val="E2E8F0"/>
                </a:solidFill>
                <a:latin typeface="Calibri"/>
              </a:defRPr>
            </a:pPr>
            <a:r>
              <a:t>5-step admission workflow, document checklists, and interactive digital enquiry form.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120640"/>
            <a:ext cx="342900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5212080"/>
            <a:ext cx="309981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F97316"/>
                </a:solidFill>
                <a:latin typeface="Calibri"/>
              </a:defRPr>
            </a:pPr>
            <a:r>
              <a:t>10. Contact &amp; Visit</a:t>
            </a:r>
          </a:p>
          <a:p>
            <a:pPr>
              <a:defRPr sz="1050">
                <a:solidFill>
                  <a:srgbClr val="E2E8F0"/>
                </a:solidFill>
                <a:latin typeface="Calibri"/>
              </a:defRPr>
            </a:pPr>
            <a:r>
              <a:t>Interactive campus map, office operating hours, landline/mobile contacts, and office inquiry form.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3400" y="5120640"/>
            <a:ext cx="342900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07992" y="5212080"/>
            <a:ext cx="309981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F97316"/>
                </a:solidFill>
                <a:latin typeface="Calibri"/>
              </a:defRPr>
            </a:pPr>
            <a:r>
              <a:t>11. Documents Center</a:t>
            </a:r>
          </a:p>
          <a:p>
            <a:pPr>
              <a:defRPr sz="1050">
                <a:solidFill>
                  <a:srgbClr val="E2E8F0"/>
                </a:solidFill>
                <a:latin typeface="Calibri"/>
              </a:defRPr>
            </a:pPr>
            <a:r>
              <a:t>One-click downloads of official forms, holiday schedules, and school codes of conduct.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55280" y="5120640"/>
            <a:ext cx="342900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19872" y="5212080"/>
            <a:ext cx="309981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F97316"/>
                </a:solidFill>
                <a:latin typeface="Calibri"/>
              </a:defRPr>
            </a:pPr>
            <a:r>
              <a:t>12. Parent Voices</a:t>
            </a:r>
          </a:p>
          <a:p>
            <a:pPr>
              <a:defRPr sz="1050">
                <a:solidFill>
                  <a:srgbClr val="E2E8F0"/>
                </a:solidFill>
                <a:latin typeface="Calibri"/>
              </a:defRPr>
            </a:pPr>
            <a:r>
              <a:t>Verified parent testimonials highlighting student emotional and academic growth.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Calibri"/>
              </a:defRPr>
            </a:pPr>
            <a:r>
              <a:t>STUDENT ENROLLMENT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Admission Lead Pipeline &amp; Conversion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2377440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Step 1: Parent Inquires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572768"/>
            <a:ext cx="79552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Parent visits website and completes online enquiry form with child grade, contact number, and notes.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23160"/>
            <a:ext cx="10728655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423160"/>
            <a:ext cx="2377440" cy="8229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Step 2: Instant Capture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532888"/>
            <a:ext cx="79552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Backend validates data, saves lead to SQL Server, and dispatches notification to admissions desk.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383280"/>
            <a:ext cx="10728655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383280"/>
            <a:ext cx="2377440" cy="8229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Step 3: Admin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3493008"/>
            <a:ext cx="79552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Admissions staff view lead in Admin Dashboard, change status to 'Called', and log interaction notes.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43400"/>
            <a:ext cx="10728655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343400"/>
            <a:ext cx="2377440" cy="822960"/>
          </a:xfrm>
          <a:prstGeom prst="rect">
            <a:avLst/>
          </a:prstGeom>
          <a:solidFill>
            <a:srgbClr val="1B3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Step 4: Campus Tour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4453128"/>
            <a:ext cx="79552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Staff schedules campus tour ('Visit Booked') and parent completes classroom interaction.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303520"/>
            <a:ext cx="10728655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5303520"/>
            <a:ext cx="2377440" cy="8229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Step 5: Enrollment Confirmed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5413248"/>
            <a:ext cx="79552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Document verification completed; lead marked 'Admitted' and archived to student register.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Calibri"/>
              </a:defRPr>
            </a:pPr>
            <a:r>
              <a:t>DATA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Enterprise Security, Authentication &amp; Role Access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5780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800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EA5E9"/>
                </a:solidFill>
                <a:latin typeface="Calibri"/>
              </a:defRPr>
            </a:pPr>
            <a:r>
              <a:t>🔐 JWT Authentication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• Encrypted JSON Web Tokens for stateless session management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• Auto-expiration and secure refresh token exchange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• Brute-force protection and IP-based rate limiting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463040"/>
            <a:ext cx="525780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00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EA5E9"/>
                </a:solidFill>
                <a:latin typeface="Calibri"/>
              </a:defRPr>
            </a:pPr>
            <a:r>
              <a:t>🛡️ Role-Based Access Control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• Super Admin: Full school configuration, user provisioning &amp; audits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• Admissions Officer: Lead intake, visit booking &amp; status changes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• Content Editor: Announcement drafts, gallery &amp; news publishing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86200"/>
            <a:ext cx="525780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069080"/>
            <a:ext cx="4800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EA5E9"/>
                </a:solidFill>
                <a:latin typeface="Calibri"/>
              </a:defRPr>
            </a:pPr>
            <a:r>
              <a:t>🛑 Data Sanitization &amp; Protection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• XSS &amp; SQL Injection defense via parameterized EF Core queries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• Strict input validation on both Angular client &amp; .NET 10 API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• CORS restrictions: API only responds to authorized school origin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886200"/>
            <a:ext cx="525780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069080"/>
            <a:ext cx="4800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EA5E9"/>
                </a:solidFill>
                <a:latin typeface="Calibri"/>
              </a:defRPr>
            </a:pPr>
            <a:r>
              <a:t>📜 Regulatory &amp; Child Privacy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• Compliant with Indian digital data protection standards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• Child photo privacy controls &amp; parental consent verification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• Zero commercial tracking, ads, or third-party data sharing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Calibri"/>
              </a:defRPr>
            </a:pPr>
            <a:r>
              <a:t>INFRASTRUCTURE TOPOLOGY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Complete Multi-Tier 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56032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2560320" cy="914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91640"/>
            <a:ext cx="223113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Calibri"/>
              </a:defRPr>
            </a:pPr>
            <a:r>
              <a:t>PRESENTATION LAYER</a:t>
            </a:r>
          </a:p>
          <a:p>
            <a:pPr>
              <a:spcAft>
                <a:spcPts val="12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Angular 21 Client</a:t>
            </a:r>
          </a:p>
          <a:p>
            <a:pPr>
              <a:lnSpc>
                <a:spcPct val="130000"/>
              </a:lnSpc>
              <a:defRPr sz="1150">
                <a:solidFill>
                  <a:srgbClr val="E2E8F0"/>
                </a:solidFill>
                <a:latin typeface="Calibri"/>
              </a:defRPr>
            </a:pPr>
            <a:r>
              <a:t>Runs on parent mobile/desktop browsers. Powered by Vite, fine-grained Signals, Standalone Components, and Tailwind CSS. 100% responsive.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463040"/>
            <a:ext cx="256032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29000" y="1463040"/>
            <a:ext cx="2560320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3592" y="1691640"/>
            <a:ext cx="223113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API GATEWAY LAYER</a:t>
            </a:r>
          </a:p>
          <a:p>
            <a:pPr>
              <a:spcAft>
                <a:spcPts val="12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.NET 10 Web API</a:t>
            </a:r>
          </a:p>
          <a:p>
            <a:pPr>
              <a:lnSpc>
                <a:spcPct val="130000"/>
              </a:lnSpc>
              <a:defRPr sz="1150">
                <a:solidFill>
                  <a:srgbClr val="E2E8F0"/>
                </a:solidFill>
                <a:latin typeface="Calibri"/>
              </a:defRPr>
            </a:pPr>
            <a:r>
              <a:t>C# REST API endpoints handling authentication, validation, business logic, file upload processing, and rate limiting.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463040"/>
            <a:ext cx="256032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463040"/>
            <a:ext cx="2560320" cy="914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91072" y="1691640"/>
            <a:ext cx="223113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Calibri"/>
              </a:defRPr>
            </a:pPr>
            <a:r>
              <a:t>BUSINESS LOGIC LAYER</a:t>
            </a:r>
          </a:p>
          <a:p>
            <a:pPr>
              <a:spcAft>
                <a:spcPts val="12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Application Core Services</a:t>
            </a:r>
          </a:p>
          <a:p>
            <a:pPr>
              <a:lnSpc>
                <a:spcPct val="130000"/>
              </a:lnSpc>
              <a:defRPr sz="1150">
                <a:solidFill>
                  <a:srgbClr val="E2E8F0"/>
                </a:solidFill>
                <a:latin typeface="Calibri"/>
              </a:defRPr>
            </a:pPr>
            <a:r>
              <a:t>Services for Announcement Scheduling, Admission CRM Pipeline, Gallery Management, and Automated Email/SMS dispatch.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1463040"/>
            <a:ext cx="256032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23960" y="1463040"/>
            <a:ext cx="2560320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88552" y="1691640"/>
            <a:ext cx="223113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2C55E"/>
                </a:solidFill>
                <a:latin typeface="Calibri"/>
              </a:defRPr>
            </a:pPr>
            <a:r>
              <a:t>DATA PERSISTENCE LAYER</a:t>
            </a:r>
          </a:p>
          <a:p>
            <a:pPr>
              <a:spcAft>
                <a:spcPts val="12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SQL Server &amp; Cloud Store</a:t>
            </a:r>
          </a:p>
          <a:p>
            <a:pPr>
              <a:lnSpc>
                <a:spcPct val="130000"/>
              </a:lnSpc>
              <a:defRPr sz="1150">
                <a:solidFill>
                  <a:srgbClr val="E2E8F0"/>
                </a:solidFill>
                <a:latin typeface="Calibri"/>
              </a:defRPr>
            </a:pPr>
            <a:r>
              <a:t>Relational database schema with EF Core 10, automated migrations, indexing, and Cloud Blob Storage for media assets.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03504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94A3B8"/>
                </a:solidFill>
                <a:latin typeface="Calibri"/>
              </a:defRPr>
            </a:pPr>
            <a:r>
              <a:t>DATA FLOW: Browser Requests (HTTPS) ➔ JWT Validation ➔ Business Services ➔ EF Core 10 ➔ SQL Server (ACID Transactions)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Calibri"/>
              </a:defRPr>
            </a:pPr>
            <a:r>
              <a:t>PROJECT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Structured 5-Phase Implementation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2926080" cy="8229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Phase 1: Design &amp; UX Prototype</a:t>
            </a:r>
          </a:p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[COMPLETED]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572768"/>
            <a:ext cx="7406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2E8F0"/>
                </a:solidFill>
                <a:latin typeface="Calibri"/>
              </a:defRPr>
            </a:pPr>
            <a:r>
              <a:t>Fully responsive client-side SPA validated with all 12+ public views and admin dashboard mockups.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23160"/>
            <a:ext cx="10728655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423160"/>
            <a:ext cx="2926080" cy="8229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Phase 2: .NET 10 API &amp; Database</a:t>
            </a:r>
          </a:p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[NEXT STEP]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532888"/>
            <a:ext cx="7406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2E8F0"/>
                </a:solidFill>
                <a:latin typeface="Calibri"/>
              </a:defRPr>
            </a:pPr>
            <a:r>
              <a:t>Setup ASP.NET Core Web API, SQL Server database schema, EF Core migrations, and JWT auth.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383280"/>
            <a:ext cx="10728655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383280"/>
            <a:ext cx="2926080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Phase 3: Angular 21 Migration</a:t>
            </a:r>
          </a:p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[DEVELOPMENT]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3493008"/>
            <a:ext cx="7406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2E8F0"/>
                </a:solidFill>
                <a:latin typeface="Calibri"/>
              </a:defRPr>
            </a:pPr>
            <a:r>
              <a:t>Port views into Angular 21 Standalone Components, reactive signals, API services, and admin panel.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43400"/>
            <a:ext cx="10728655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343400"/>
            <a:ext cx="2926080" cy="8229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Phase 4: Client Assets &amp; Content</a:t>
            </a:r>
          </a:p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[COLLABORATION]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4453128"/>
            <a:ext cx="7406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2E8F0"/>
                </a:solidFill>
                <a:latin typeface="Calibri"/>
              </a:defRPr>
            </a:pPr>
            <a:r>
              <a:t>Incorporate official client copy, teacher photographs, logos, and downloadable school policies.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303520"/>
            <a:ext cx="10728655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5303520"/>
            <a:ext cx="2926080" cy="822960"/>
          </a:xfrm>
          <a:prstGeom prst="rect">
            <a:avLst/>
          </a:prstGeom>
          <a:solidFill>
            <a:srgbClr val="1B3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Phase 5: Testing &amp; Production Launch</a:t>
            </a:r>
          </a:p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[DEPLOYMENT]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5413248"/>
            <a:ext cx="7406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2E8F0"/>
                </a:solidFill>
                <a:latin typeface="Calibri"/>
              </a:defRPr>
            </a:pPr>
            <a:r>
              <a:t>Security audits, cross-device testing, SEO indexing, SSL certification, and custom domain launch.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Calibri"/>
              </a:defRPr>
            </a:pPr>
            <a:r>
              <a:t>FUTURE SCALABILITY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Future Expansion Horizons: Complete School ERP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5780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800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EA5E9"/>
                </a:solidFill>
                <a:latin typeface="Calibri"/>
              </a:defRPr>
            </a:pPr>
            <a:r>
              <a:t>👨‍🎓 Student &amp; Parent Portals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• Student login: Homework, timetable &amp; digital marksheets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• Parent login: Attendance alerts &amp; direct teacher messaging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• Online fee payment gateway (UPI, Netbanking, Cards)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463040"/>
            <a:ext cx="525780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00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EA5E9"/>
                </a:solidFill>
                <a:latin typeface="Calibri"/>
              </a:defRPr>
            </a:pPr>
            <a:r>
              <a:t>👩‍🏫 Teacher Classroom Portal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• Daily student attendance marking from smartphone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• Grade entry, remarks, and automatic progress reports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• Teacher lesson planning and leave request management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86200"/>
            <a:ext cx="525780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069080"/>
            <a:ext cx="4800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EA5E9"/>
                </a:solidFill>
                <a:latin typeface="Calibri"/>
              </a:defRPr>
            </a:pPr>
            <a:r>
              <a:t>🚌 Transport &amp; Operations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• Live GPS bus route tracking shared with parents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• Library book cataloging and barcode checkout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• Automated WhatsApp &amp; SMS attendance/fee reminders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886200"/>
            <a:ext cx="525780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069080"/>
            <a:ext cx="4800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EA5E9"/>
                </a:solidFill>
                <a:latin typeface="Calibri"/>
              </a:defRPr>
            </a:pPr>
            <a:r>
              <a:t>🔗 LEAD School System Sync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• Seamless synchronization with LEAD integrated learning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• Single Sign-On (SSO) between school and curriculum apps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• Multi-branch administrative scalability for future campuses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28016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Transforming Christina School into a Modern Digital Institution</a:t>
            </a:r>
          </a:p>
          <a:p>
            <a:pPr>
              <a:spcBef>
                <a:spcPts val="600"/>
              </a:spcBef>
              <a:defRPr sz="1800">
                <a:solidFill>
                  <a:srgbClr val="0EA5E9"/>
                </a:solidFill>
                <a:latin typeface="Calibri"/>
              </a:defRPr>
            </a:pPr>
            <a:r>
              <a:t>Built on Angular 21, .NET 10, and a dedicated Enterprise Administration Suite.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97316"/>
                </a:solidFill>
                <a:latin typeface="Calibri"/>
              </a:defRPr>
            </a:pPr>
            <a:r>
              <a:t>IMMEDIATE CLIENT NEXT STEPS: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1. Review Client Requirements Checklist (.docx)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2. Provide high-resolution school logo &amp; campus photos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3. Confirm official teacher roster &amp; designations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4. Share 2026-27 fee structure &amp; calendar circulars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5. Authorize domain registration &amp; cloud hosting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2926080"/>
            <a:ext cx="4389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2C55E"/>
                </a:solidFill>
                <a:latin typeface="Calibri"/>
              </a:defRPr>
            </a:pPr>
            <a:r>
              <a:t>OFFICIAL INSTITUTIONAL CONTACT:</a:t>
            </a:r>
          </a:p>
          <a:p>
            <a:pPr>
              <a:spcAft>
                <a:spcPts val="400"/>
              </a:spcAft>
              <a:defRPr sz="1300" b="1">
                <a:solidFill>
                  <a:srgbClr val="F97316"/>
                </a:solidFill>
                <a:latin typeface="Calibri"/>
              </a:defRPr>
            </a:pPr>
            <a:r>
              <a:t>School: </a:t>
            </a:r>
            <a:r>
              <a:rPr b="0">
                <a:solidFill>
                  <a:srgbClr val="E2E8F0"/>
                </a:solidFill>
              </a:rPr>
              <a:t>Christina Nursery &amp; Primary School</a:t>
            </a:r>
          </a:p>
          <a:p>
            <a:pPr>
              <a:spcAft>
                <a:spcPts val="400"/>
              </a:spcAft>
              <a:defRPr sz="1300" b="1">
                <a:solidFill>
                  <a:srgbClr val="F97316"/>
                </a:solidFill>
                <a:latin typeface="Calibri"/>
              </a:defRPr>
            </a:pPr>
            <a:r>
              <a:t>Campus: </a:t>
            </a:r>
            <a:r>
              <a:rPr b="0">
                <a:solidFill>
                  <a:srgbClr val="E2E8F0"/>
                </a:solidFill>
              </a:rPr>
              <a:t>Rasipuram Main Road, Gopalapuram, Attur</a:t>
            </a:r>
          </a:p>
          <a:p>
            <a:pPr>
              <a:spcAft>
                <a:spcPts val="400"/>
              </a:spcAft>
              <a:defRPr sz="1300" b="1">
                <a:solidFill>
                  <a:srgbClr val="F97316"/>
                </a:solidFill>
                <a:latin typeface="Calibri"/>
              </a:defRPr>
            </a:pPr>
            <a:r>
              <a:t>District: </a:t>
            </a:r>
            <a:r>
              <a:rPr b="0">
                <a:solidFill>
                  <a:srgbClr val="E2E8F0"/>
                </a:solidFill>
              </a:rPr>
              <a:t>Salem - 636102, Tamil Nadu</a:t>
            </a:r>
          </a:p>
          <a:p>
            <a:pPr>
              <a:spcAft>
                <a:spcPts val="400"/>
              </a:spcAft>
              <a:defRPr sz="1300" b="1">
                <a:solidFill>
                  <a:srgbClr val="F97316"/>
                </a:solidFill>
                <a:latin typeface="Calibri"/>
              </a:defRPr>
            </a:pPr>
            <a:r>
              <a:t>Principal: </a:t>
            </a:r>
            <a:r>
              <a:rPr b="0">
                <a:solidFill>
                  <a:srgbClr val="E2E8F0"/>
                </a:solidFill>
              </a:rPr>
              <a:t>Mr. Joshua Billowry</a:t>
            </a:r>
          </a:p>
          <a:p>
            <a:pPr>
              <a:spcAft>
                <a:spcPts val="400"/>
              </a:spcAft>
              <a:defRPr sz="1300" b="1">
                <a:solidFill>
                  <a:srgbClr val="F97316"/>
                </a:solidFill>
                <a:latin typeface="Calibri"/>
              </a:defRPr>
            </a:pPr>
            <a:r>
              <a:t>Office Phone: </a:t>
            </a:r>
            <a:r>
              <a:rPr b="0">
                <a:solidFill>
                  <a:srgbClr val="E2E8F0"/>
                </a:solidFill>
              </a:rPr>
              <a:t>+91 427 225 4053 / +91 94432 75738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